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avec le tagline signature. Positionnement : sérénité et bien-être, pas tech.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Commencer par la douleur universelle. Statistique choc pour créer l'urgence.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Décrire le cercle vicieux émotionnellement. Créer de l'empathie.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Peindre la vision idéale avec des scènes concrètes et émotionnelles.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Léa est le produit, pas une mascotte. Insister sur la disponibilité 24/7.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Simplicité absolue : 3 étapes. Rassurer sur l'adaptation sectorielle.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Métriques concrètes et réalistes. Témoignage client avec secteur.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les spécificités françaises. Spécialiste vs. généraliste.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Témoignages courts et émotionnels. Focus sur les bénéfices émotionnels.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Chief of Staff = hero. Contraste avec la complexité tarifaire des concurrents.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 simple et conservateur. ROI impressionnant mais crédible.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CTA principal : essai gratuit. Lever toutes les objections.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8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7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Secretair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8D8C8"/>
                </a:solidFill>
                <a:latin typeface="Calibri"/>
              </a:defRPr>
            </a:pPr>
            <a:r>
              <a:t>Ta boîte tourne. Toi, tu respires.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L'IA qui prospecte pendant que tu vis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5029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B8A72"/>
                </a:solidFill>
                <a:latin typeface="Calibri"/>
              </a:defRPr>
            </a:pPr>
            <a:r>
              <a:t>Le Monde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D2D2D"/>
                </a:solidFill>
                <a:latin typeface="Calibri"/>
              </a:defRPr>
            </a:pPr>
            <a:r>
              <a:t>La prospection commerciale vous épuise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57373"/>
                </a:solidFill>
                <a:latin typeface="Calibri"/>
              </a:defRPr>
            </a:pPr>
            <a:r>
              <a:t>85% des dirigeants PME passent plus de 4h/jour sur la prospection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• Appels à froid qui ne répondent pas</a:t>
            </a:r>
          </a:p>
          <a:p>
            <a:pPr>
              <a:spcBef>
                <a:spcPts val="400"/>
              </a:spcBef>
              <a:defRPr sz="1800">
                <a:solidFill>
                  <a:srgbClr val="666666"/>
                </a:solidFill>
                <a:latin typeface="Calibri"/>
              </a:defRPr>
            </a:pPr>
            <a:r>
              <a:t>• Emails automatiques ignorés</a:t>
            </a:r>
          </a:p>
          <a:p>
            <a:pPr>
              <a:spcBef>
                <a:spcPts val="400"/>
              </a:spcBef>
              <a:defRPr sz="1800">
                <a:solidFill>
                  <a:srgbClr val="666666"/>
                </a:solidFill>
                <a:latin typeface="Calibri"/>
              </a:defRPr>
            </a:pPr>
            <a:r>
              <a:t>• RDV qui se transforment en perte de temps</a:t>
            </a:r>
          </a:p>
          <a:p>
            <a:pPr>
              <a:spcBef>
                <a:spcPts val="400"/>
              </a:spcBef>
              <a:defRPr sz="1800">
                <a:solidFill>
                  <a:srgbClr val="666666"/>
                </a:solidFill>
                <a:latin typeface="Calibri"/>
              </a:defRPr>
            </a:pPr>
            <a:r>
              <a:t>• Stress constant de remplir le pipeline</a:t>
            </a:r>
          </a:p>
          <a:p>
            <a:pPr algn="l">
              <a:spcBef>
                <a:spcPts val="2000"/>
              </a:spcBef>
              <a:defRPr sz="1800" b="1">
                <a:solidFill>
                  <a:srgbClr val="E57373"/>
                </a:solidFill>
                <a:latin typeface="Calibri"/>
              </a:defRPr>
            </a:pPr>
            <a:r>
              <a:t>Pendant ce temps, votre business stagne.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B8A72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D2D2D"/>
                </a:solidFill>
                <a:latin typeface="Calibri"/>
              </a:defRPr>
            </a:pPr>
            <a:r>
              <a:t>Vous êtes coincé dans un cercle vicieux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solidFill>
            <a:srgbClr val="98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1488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2D2D"/>
                </a:solidFill>
                <a:latin typeface="Calibri"/>
              </a:defRPr>
            </a:pPr>
            <a:r>
              <a:t>Sans prospects → Pas de ventes → Stress financier → Encore plus de prospection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• Tu passes tes journées au téléphone au lieu de développer ton business</a:t>
            </a:r>
          </a:p>
          <a:p>
            <a:pPr>
              <a:spcBef>
                <a:spcPts val="400"/>
              </a:spcBef>
              <a:defRPr sz="1800">
                <a:solidFill>
                  <a:srgbClr val="666666"/>
                </a:solidFill>
                <a:latin typeface="Calibri"/>
              </a:defRPr>
            </a:pPr>
            <a:r>
              <a:t>• Tu rates des opportunités parce que tu n'as pas le temps de suivre</a:t>
            </a:r>
          </a:p>
          <a:p>
            <a:pPr>
              <a:spcBef>
                <a:spcPts val="400"/>
              </a:spcBef>
              <a:defRPr sz="1800">
                <a:solidFill>
                  <a:srgbClr val="666666"/>
                </a:solidFill>
                <a:latin typeface="Calibri"/>
              </a:defRPr>
            </a:pPr>
            <a:r>
              <a:t>• Ton équipe attend tes directives pendant que tu qualifies des leads</a:t>
            </a:r>
          </a:p>
          <a:p>
            <a:pPr>
              <a:spcBef>
                <a:spcPts val="400"/>
              </a:spcBef>
              <a:defRPr sz="1800">
                <a:solidFill>
                  <a:srgbClr val="666666"/>
                </a:solidFill>
                <a:latin typeface="Calibri"/>
              </a:defRPr>
            </a:pPr>
            <a:r>
              <a:t>• Ta famille te voit moins que tes prospects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8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8D8C8"/>
                </a:solidFill>
                <a:latin typeface="Calibri"/>
              </a:defRPr>
            </a:pPr>
            <a:r>
              <a:t>La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Et si la prospection se faisait toute seule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☀️  Tu te réveilles avec 3 RDV qualifiés dans ton agenda</a:t>
            </a:r>
          </a:p>
          <a:p>
            <a:pPr algn="l">
              <a:spcBef>
                <a:spcPts val="1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🍽️  Pendant ton déjeuner, 5 nouveaux prospects sont contactés</a:t>
            </a:r>
          </a:p>
          <a:p>
            <a:pPr algn="l">
              <a:spcBef>
                <a:spcPts val="1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🌙  Ta nuit ? Léa continue de travailler pour toi</a:t>
            </a:r>
          </a:p>
          <a:p>
            <a:pPr algn="l">
              <a:spcBef>
                <a:spcPts val="1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🏖️  Ton weekend ? Enfin libre de le vivre</a:t>
            </a:r>
          </a:p>
          <a:p>
            <a:pPr algn="l">
              <a:spcBef>
                <a:spcPts val="24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600"/>
              </a:spcBef>
              <a:defRPr sz="2200" b="1">
                <a:solidFill>
                  <a:srgbClr val="98D8C8"/>
                </a:solidFill>
                <a:latin typeface="Calibri"/>
              </a:defRPr>
            </a:pPr>
            <a:r>
              <a:t>C'est exactement ce que fait Secretair.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B8A72"/>
                </a:solidFill>
                <a:latin typeface="Calibri"/>
              </a:defRPr>
            </a:pPr>
            <a:r>
              <a:t>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D2D2D"/>
                </a:solidFill>
                <a:latin typeface="Calibri"/>
              </a:defRPr>
            </a:pPr>
            <a:r>
              <a:t>Léa, ton assistante IA qui appelle à ta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🦊 Appelle tes prospects par téléphone</a:t>
            </a:r>
          </a:p>
          <a:p>
            <a:pPr algn="l">
              <a:spcBef>
                <a:spcPts val="1600"/>
              </a:spcBef>
              <a:defRPr sz="2000" b="1">
                <a:solidFill>
                  <a:srgbClr val="2D2D2D"/>
                </a:solidFill>
                <a:latin typeface="Calibri"/>
              </a:defRPr>
            </a:pPr>
            <a:r>
              <a:t>🦊 Qualifie les leads avec tes critères</a:t>
            </a:r>
          </a:p>
          <a:p>
            <a:pPr algn="l">
              <a:spcBef>
                <a:spcPts val="1600"/>
              </a:spcBef>
              <a:defRPr sz="2000" b="1">
                <a:solidFill>
                  <a:srgbClr val="2D2D2D"/>
                </a:solidFill>
                <a:latin typeface="Calibri"/>
              </a:defRPr>
            </a:pPr>
            <a:r>
              <a:t>🦊 Prend les rendez-vous dans ton agenda</a:t>
            </a:r>
          </a:p>
          <a:p>
            <a:pPr algn="l">
              <a:spcBef>
                <a:spcPts val="1600"/>
              </a:spcBef>
              <a:defRPr sz="2000" b="1">
                <a:solidFill>
                  <a:srgbClr val="2D2D2D"/>
                </a:solidFill>
                <a:latin typeface="Calibri"/>
              </a:defRPr>
            </a:pPr>
            <a:r>
              <a:t>🦊 Suit les prospects jusqu'à conversion</a:t>
            </a:r>
          </a:p>
          <a:p>
            <a:pPr algn="l">
              <a:spcBef>
                <a:spcPts val="1600"/>
              </a:spcBef>
              <a:defRPr sz="2000" b="1">
                <a:solidFill>
                  <a:srgbClr val="2D2D2D"/>
                </a:solidFill>
                <a:latin typeface="Calibri"/>
              </a:defRPr>
            </a:pPr>
            <a:r>
              <a:t>🦊 Disponible 24h/24, 7j/7</a:t>
            </a:r>
          </a:p>
          <a:p>
            <a:pPr algn="l">
              <a:spcBef>
                <a:spcPts val="2000"/>
              </a:spcBef>
              <a:defRPr sz="16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2000" b="1">
                <a:solidFill>
                  <a:srgbClr val="5B8A72"/>
                </a:solidFill>
                <a:latin typeface="Calibri"/>
              </a:defRPr>
            </a:pPr>
            <a:r>
              <a:t>Pendant que tu diriges ton entreprise.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B8A72"/>
                </a:solidFill>
                <a:latin typeface="Calibri"/>
              </a:defRPr>
            </a:pPr>
            <a:r>
              <a:t>Comment Ça Marche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Calibri"/>
              </a:defRPr>
            </a:pPr>
            <a:r>
              <a:t>Simple. Automatique. Transparent.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103120"/>
            <a:ext cx="274320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B8A72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2D2D"/>
                </a:solidFill>
                <a:latin typeface="Calibri"/>
              </a:defRPr>
            </a:pPr>
            <a:r>
              <a:t>Tu importes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566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tes contacts ou critères</a:t>
            </a:r>
            <a:br/>
            <a:r>
              <a:t>de prospection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103120"/>
            <a:ext cx="2743200" cy="2743200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Léa appelle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566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et qualifie selon</a:t>
            </a:r>
            <a:br/>
            <a:r>
              <a:t>tes besoins exacts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103120"/>
            <a:ext cx="274320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B8A7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2D2D"/>
                </a:solidFill>
                <a:latin typeface="Calibri"/>
              </a:defRPr>
            </a:pPr>
            <a:r>
              <a:t>Tu reçois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3566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les RDV qualifiés dans</a:t>
            </a:r>
            <a:br/>
            <a:r>
              <a:t>ton agenda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B8A72"/>
                </a:solidFill>
                <a:latin typeface="Calibri"/>
              </a:defRPr>
            </a:pPr>
            <a:r>
              <a:t>Léa parle français nativement, respecte le RGPD, et s'adapte à ton secteur.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B8A72"/>
                </a:solidFill>
                <a:latin typeface="Calibri"/>
              </a:defRPr>
            </a:pPr>
            <a:r>
              <a:t>Les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Calibri"/>
              </a:defRPr>
            </a:pPr>
            <a:r>
              <a:t>Tes concurrents utilisent encore le téléphone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560320" cy="2011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5B8A72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plus de RDV</a:t>
            </a:r>
            <a:br/>
            <a:r>
              <a:t>qualifiés/semaine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103120"/>
            <a:ext cx="2560320" cy="2011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5B8A72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de temps libéré</a:t>
            </a:r>
            <a:br/>
            <a:r>
              <a:t>sur la prospection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2560320" cy="2011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5B8A72"/>
                </a:solidFill>
                <a:latin typeface="Calibri"/>
              </a:defRPr>
            </a:pPr>
            <a:r>
              <a:t>120%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d'augmentation</a:t>
            </a:r>
            <a:br/>
            <a:r>
              <a:t>du pipeline en 3 mois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103120"/>
            <a:ext cx="2560320" cy="2011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286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5B8A72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stress lié aux</a:t>
            </a:r>
            <a:br/>
            <a:r>
              <a:t>appels à froid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572000"/>
            <a:ext cx="9144000" cy="1097280"/>
          </a:xfrm>
          <a:prstGeom prst="rect">
            <a:avLst/>
          </a:prstGeom>
          <a:solidFill>
            <a:srgbClr val="98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709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2D2D"/>
                </a:solidFill>
                <a:latin typeface="Calibri"/>
              </a:defRPr>
            </a:pPr>
            <a:r>
              <a:t>Marc (PME BTP) — "De 12 à 35 RDV/mois en 2 mois avec Léa"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B8A72"/>
                </a:solidFill>
                <a:latin typeface="Calibri"/>
              </a:defRPr>
            </a:pPr>
            <a:r>
              <a:t>Pourquoi Léa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Calibri"/>
              </a:defRPr>
            </a:pPr>
            <a:r>
              <a:t>vs. les solutions génériques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572000" cy="64008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57373"/>
                </a:solidFill>
                <a:latin typeface="Calibri"/>
              </a:defRPr>
            </a:pPr>
            <a:r>
              <a:t>❌ IA généraliste anglaise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45720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B8A72"/>
                </a:solidFill>
                <a:latin typeface="Calibri"/>
              </a:defRPr>
            </a:pPr>
            <a:r>
              <a:t>✅ IA française spécialisée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788920"/>
            <a:ext cx="4572000" cy="64008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880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57373"/>
                </a:solidFill>
                <a:latin typeface="Calibri"/>
              </a:defRPr>
            </a:pPr>
            <a:r>
              <a:t>❌ Tarif opaque (crédits)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788920"/>
            <a:ext cx="45720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B8A72"/>
                </a:solidFill>
                <a:latin typeface="Calibri"/>
              </a:defRPr>
            </a:pPr>
            <a:r>
              <a:t>✅ Prix fixe transparent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566160"/>
            <a:ext cx="4572000" cy="64008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57373"/>
                </a:solidFill>
                <a:latin typeface="Calibri"/>
              </a:defRPr>
            </a:pPr>
            <a:r>
              <a:t>❌ Compliance 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566160"/>
            <a:ext cx="45720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B8A72"/>
                </a:solidFill>
                <a:latin typeface="Calibri"/>
              </a:defRPr>
            </a:pPr>
            <a:r>
              <a:t>✅ 100% RGPD compliant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343400"/>
            <a:ext cx="4572000" cy="64008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434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57373"/>
                </a:solidFill>
                <a:latin typeface="Calibri"/>
              </a:defRPr>
            </a:pPr>
            <a:r>
              <a:t>❌ Contexte global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343400"/>
            <a:ext cx="45720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434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B8A72"/>
                </a:solidFill>
                <a:latin typeface="Calibri"/>
              </a:defRPr>
            </a:pPr>
            <a:r>
              <a:t>✅ Business français intégré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120640"/>
            <a:ext cx="4572000" cy="64008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5212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57373"/>
                </a:solidFill>
                <a:latin typeface="Calibri"/>
              </a:defRPr>
            </a:pPr>
            <a:r>
              <a:t>❌ Mémoire courte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120640"/>
            <a:ext cx="45720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212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B8A72"/>
                </a:solidFill>
                <a:latin typeface="Calibri"/>
              </a:defRPr>
            </a:pPr>
            <a:r>
              <a:t>✅ Contexte long terme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2D2D"/>
                </a:solidFill>
                <a:latin typeface="Calibri"/>
              </a:defRPr>
            </a:pPr>
            <a:r>
              <a:t>Léa comprend tes prospects. Elle parle leur langue.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B8A72"/>
                </a:solidFill>
                <a:latin typeface="Calibri"/>
              </a:defRPr>
            </a:pPr>
            <a:r>
              <a:t>Témoignages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Calibri"/>
              </a:defRPr>
            </a:pPr>
            <a:r>
              <a:t>Ils ont retrouvé leur liberté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2918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"Léa a passé 47 appels cette semaine.</a:t>
            </a:r>
            <a:br/>
            <a:r>
              <a:t>Moi, j'ai fermé 3 deals."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8A72"/>
                </a:solidFill>
                <a:latin typeface="Calibri"/>
              </a:defRPr>
            </a:pPr>
            <a:r>
              <a:t>— Sophie, Directrice Marketing (SaaS)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011680"/>
            <a:ext cx="32918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"Je passe mes matins avec mes clients,</a:t>
            </a:r>
            <a:br/>
            <a:r>
              <a:t>plus au téléphone avec des prospects."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8A72"/>
                </a:solidFill>
                <a:latin typeface="Calibri"/>
              </a:defRPr>
            </a:pPr>
            <a:r>
              <a:t>— Thomas, Fondateur (Conseil)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011680"/>
            <a:ext cx="32918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"3 RDV cette semaine, je n'ai rien</a:t>
            </a:r>
            <a:br/>
            <a:r>
              <a:t>eu à faire. Magique."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8A72"/>
                </a:solidFill>
                <a:latin typeface="Calibri"/>
              </a:defRPr>
            </a:pPr>
            <a:r>
              <a:t>— Marie, CEO (E-commerce)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B8A72"/>
                </a:solidFill>
                <a:latin typeface="Calibri"/>
              </a:defRPr>
            </a:pPr>
            <a:r>
              <a:t>Tarifs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Calibri"/>
              </a:defRPr>
            </a:pPr>
            <a:r>
              <a:t>Transparent. Prévisible. Pas de surprises.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31089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2D2D"/>
                </a:solidFill>
                <a:latin typeface="Calibri"/>
              </a:defRPr>
            </a:pPr>
            <a:r>
              <a:t>Autopilot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D2D2D"/>
                </a:solidFill>
                <a:latin typeface="Calibri"/>
              </a:defRPr>
            </a:pPr>
            <a:r>
              <a:t>€79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/mois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5661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50 appels/mois</a:t>
            </a:r>
          </a:p>
          <a:p>
            <a:pPr algn="ctr">
              <a:spcBef>
                <a:spcPts val="800"/>
              </a:spcBef>
              <a:defRPr sz="1500" b="0">
                <a:solidFill>
                  <a:srgbClr val="666666"/>
                </a:solidFill>
                <a:latin typeface="Calibri"/>
              </a:defRPr>
            </a:pPr>
            <a:r>
              <a:t>CRM de base</a:t>
            </a:r>
          </a:p>
          <a:p>
            <a:pPr algn="ctr">
              <a:spcBef>
                <a:spcPts val="800"/>
              </a:spcBef>
              <a:defRPr sz="1500" b="0">
                <a:solidFill>
                  <a:srgbClr val="666666"/>
                </a:solidFill>
                <a:latin typeface="Calibri"/>
              </a:defRPr>
            </a:pPr>
            <a:r>
              <a:t>Email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737360"/>
            <a:ext cx="3108960" cy="4114800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Chief of Staff 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68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€249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0E8D0"/>
                </a:solidFill>
                <a:latin typeface="Calibri"/>
              </a:defRPr>
            </a:pPr>
            <a:r>
              <a:t>/mois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5661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0E8D0"/>
                </a:solidFill>
                <a:latin typeface="Calibri"/>
              </a:defRPr>
            </a:pPr>
            <a:r>
              <a:t>200 appels/mois</a:t>
            </a:r>
          </a:p>
          <a:p>
            <a:pPr algn="ctr">
              <a:spcBef>
                <a:spcPts val="800"/>
              </a:spcBef>
              <a:defRPr sz="1500" b="0">
                <a:solidFill>
                  <a:srgbClr val="D0E8D0"/>
                </a:solidFill>
                <a:latin typeface="Calibri"/>
              </a:defRPr>
            </a:pPr>
            <a:r>
              <a:t>Intégrations</a:t>
            </a:r>
          </a:p>
          <a:p>
            <a:pPr algn="ctr">
              <a:spcBef>
                <a:spcPts val="800"/>
              </a:spcBef>
              <a:defRPr sz="1500" b="0">
                <a:solidFill>
                  <a:srgbClr val="D0E8D0"/>
                </a:solidFill>
                <a:latin typeface="Calibri"/>
              </a:defRPr>
            </a:pPr>
            <a:r>
              <a:t>Support prioritaire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8D8C8"/>
                </a:solidFill>
                <a:latin typeface="Calibri"/>
              </a:defRPr>
            </a:pPr>
            <a:r>
              <a:t>Most popular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737360"/>
            <a:ext cx="31089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2D2D"/>
                </a:solidFill>
                <a:latin typeface="Calibri"/>
              </a:defRPr>
            </a:pPr>
            <a:r>
              <a:t>Inner Circle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468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D2D2D"/>
                </a:solidFill>
                <a:latin typeface="Calibri"/>
              </a:defRPr>
            </a:pPr>
            <a:r>
              <a:t>€499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/mois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35661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Appels illimités</a:t>
            </a:r>
          </a:p>
          <a:p>
            <a:pPr algn="ctr">
              <a:spcBef>
                <a:spcPts val="800"/>
              </a:spcBef>
              <a:defRPr sz="1500" b="0">
                <a:solidFill>
                  <a:srgbClr val="666666"/>
                </a:solidFill>
                <a:latin typeface="Calibri"/>
              </a:defRPr>
            </a:pPr>
            <a:r>
              <a:t>Support dédié</a:t>
            </a:r>
          </a:p>
          <a:p>
            <a:pPr algn="ctr">
              <a:spcBef>
                <a:spcPts val="800"/>
              </a:spcBef>
              <a:defRPr sz="1500" b="0">
                <a:solidFill>
                  <a:srgbClr val="666666"/>
                </a:solidFill>
                <a:latin typeface="Calibri"/>
              </a:defRPr>
            </a:pPr>
            <a:r>
              <a:t>Account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Pas de frais cachés. Pas de crédits. Prix fixe garanti.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B8A72"/>
                </a:solidFill>
                <a:latin typeface="Calibri"/>
              </a:defRPr>
            </a:pPr>
            <a:r>
              <a:t>Retour sur Investissement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Calibri"/>
              </a:defRPr>
            </a:pPr>
            <a:r>
              <a:t>Le calcul est simple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011680"/>
            <a:ext cx="8229600" cy="3657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Coût annuel (Chief of Staff)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D2D2D"/>
                </a:solidFill>
                <a:latin typeface="Calibri"/>
              </a:defRPr>
            </a:pPr>
            <a:r>
              <a:t>€2,988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880360"/>
            <a:ext cx="73152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Temps libéré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D2D2D"/>
                </a:solidFill>
                <a:latin typeface="Calibri"/>
              </a:defRPr>
            </a:pPr>
            <a:r>
              <a:t>780h / 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520440"/>
            <a:ext cx="73152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Valeur temps dirigeant (×€100/h)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D2D2D"/>
                </a:solidFill>
                <a:latin typeface="Calibri"/>
              </a:defRPr>
            </a:pPr>
            <a:r>
              <a:t>€78,000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389120"/>
            <a:ext cx="5486400" cy="914400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8D8C8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754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2,500%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Sans compter les deals supplémentaires générés par Léa.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8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Prêt à retrouver ta liberté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8D8C8"/>
                </a:solidFill>
                <a:latin typeface="Calibri"/>
              </a:defRPr>
            </a:pPr>
            <a:r>
              <a:t>🦊  Teste Léa gratuitement pendant 14 jours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4572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566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8A72"/>
                </a:solidFill>
                <a:latin typeface="Calibri"/>
              </a:defRPr>
            </a:pPr>
            <a:r>
              <a:t>Commencer mon essai gratuit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7548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D8C8"/>
                </a:solidFill>
                <a:latin typeface="Calibri"/>
              </a:defRPr>
            </a:pPr>
            <a:r>
              <a:t>✓ Aucune carte bleue nécessaire</a:t>
            </a:r>
          </a:p>
          <a:p>
            <a:pPr algn="ctr">
              <a:spcBef>
                <a:spcPts val="600"/>
              </a:spcBef>
              <a:defRPr sz="1600" b="0">
                <a:solidFill>
                  <a:srgbClr val="98D8C8"/>
                </a:solidFill>
                <a:latin typeface="Calibri"/>
              </a:defRPr>
            </a:pPr>
            <a:r>
              <a:t>✓ Setup en 10 minutes</a:t>
            </a:r>
          </a:p>
          <a:p>
            <a:pPr algn="ctr">
              <a:spcBef>
                <a:spcPts val="600"/>
              </a:spcBef>
              <a:defRPr sz="1600" b="0">
                <a:solidFill>
                  <a:srgbClr val="98D8C8"/>
                </a:solidFill>
                <a:latin typeface="Calibri"/>
              </a:defRPr>
            </a:pPr>
            <a:r>
              <a:t>✓ Support français inclus</a:t>
            </a:r>
          </a:p>
          <a:p>
            <a:pPr algn="ctr">
              <a:spcBef>
                <a:spcPts val="600"/>
              </a:spcBef>
              <a:defRPr sz="1600" b="0">
                <a:solidFill>
                  <a:srgbClr val="98D8C8"/>
                </a:solidFill>
                <a:latin typeface="Calibri"/>
              </a:defRPr>
            </a:pPr>
            <a:r>
              <a:t>✓ Annulation en un clic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